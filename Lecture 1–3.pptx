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AE86-371C-0338-7120-6ECC3BBAF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F0141-1735-B9D5-86C0-896A153F1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5F4AA-A727-F746-3889-8641B1E12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B8FB1-3897-F407-7C0B-99FCE8A9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A8F72-C866-6E3D-9B21-4D8BD2E5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09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6268-AA22-7DF7-B113-1689E0B5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2E9AE-D7B4-0CB0-8BC0-F933D85AF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F4D19-F385-F1BF-5457-81868161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96A97-BE07-7332-88CC-CE3E93EE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92B55-C529-6AD5-46DA-7CEB4849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66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0BBC-38AF-C33B-44B4-0FA45724F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C70C2-613B-4491-FB73-4B45840C0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E5113-B471-4A88-75DA-545656A7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49DD8-FB55-0020-841C-464F9284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8165C-0006-BB92-8F28-E8024D3A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5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1709-387A-C361-2535-B2AC3D5C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074EF-2936-1683-2889-376FD9A82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A5C31-450D-A5CE-D86D-070CE3399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99F18-CD0C-87B4-6670-5318E996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648D7-8642-6CBB-EABA-A979469B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AA558-2EB2-9E28-CE11-E4E4612B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67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6BEE-9A16-76C0-8963-B3DB287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4E575-0CA1-4930-077F-344067BA1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D6FC6-3937-F370-13D1-824354E75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D4B25-F4D5-719A-B39F-42622E76C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A20C2E-F720-77FB-DE45-A9AD803BE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B5663F-70B1-9166-ED82-E4563BD68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355DF-C469-5A40-5CEE-81A73AF42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CB445F-F4CC-114F-740E-F0FAF282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17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1433-3879-29E8-2970-DA2B98707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291E6-232B-7FED-CFE7-49FD0C98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1DFDB-18B8-247C-ACE1-9DFE72B3A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3F35D-F858-5109-7F1E-8A4D821E2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99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A6425-436E-0CC8-5C0E-02786A3D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1B938E-49C0-E6AB-8182-228640AD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6133-CB41-F9E9-F453-FCBAB932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1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3C2A-276E-B481-E796-55BCC810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41FAF-7A97-705F-5418-949786E67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80A2B-683C-A41D-821E-83169D05B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C1BD5-15EE-8571-5ED1-CC027E6C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20325-FE5B-E613-C0BF-07052E81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B6D6F-6D0C-8370-770E-BC48794F6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11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5212-B902-126B-748A-A6EE16C0F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92C018-86F9-B9A4-47F7-82A80AE1D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D579A-0C0D-5458-908F-ED2169ACF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58BE8-672B-54ED-FD36-B85D14DA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11336-C88B-E27E-9B78-01B3C858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76E55-3272-1D52-A9F9-15562C56E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FB78-6D3F-7B75-5BD7-98AA9E31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E39F1C-3D5A-7D59-33BD-92B194D4F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C716D-6337-F3C5-BABF-624775B4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0386C-D136-1FF6-F1AC-9A1D1A0BC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FDABD-E45A-2068-1580-CF481732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5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48A45F-7E44-3955-36DA-F9A1408BD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6E86A-C11D-D6EB-F0D5-477E5EB8A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4E914-1437-3602-D88D-9E7FFE713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1E053-15A7-AF6B-3BB2-4FF0901B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F98A1-0FA8-05B2-0C17-144979E1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7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971F9-0A6A-021B-24AA-3A406D549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61F0-A07F-7B79-5BCD-B11C2A934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E2D0B-21D2-3A15-E4FD-0C5121B4E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2F097-557F-42A2-983E-D7397220875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C9E73-D0DE-FBA4-CE31-8B93B39D1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7461-A095-C991-8EBA-F9CA66D62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13574-0903-4299-847D-22E24060C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9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7B221-A1CD-780A-68C3-3D3F20BD8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8892" y="1420318"/>
            <a:ext cx="9144000" cy="2008682"/>
          </a:xfrm>
        </p:spPr>
        <p:txBody>
          <a:bodyPr>
            <a:noAutofit/>
          </a:bodyPr>
          <a:lstStyle/>
          <a:p>
            <a:r>
              <a:rPr lang="en-US" sz="2800" b="1" dirty="0"/>
              <a:t>Lecture 1–3: Basics of Visual Programming, Introduction to Events, and Fundamentals of Event-Driven Programming</a:t>
            </a:r>
            <a:br>
              <a:rPr lang="en-US" sz="2800" b="1" dirty="0"/>
            </a:br>
            <a:r>
              <a:rPr lang="en-US" sz="2800" b="1" dirty="0"/>
              <a:t>Course:</a:t>
            </a:r>
            <a:r>
              <a:rPr lang="en-US" sz="2800" dirty="0"/>
              <a:t> Visual Programming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EB5A3-741C-D0C4-5D68-CB1DBB292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2236"/>
            <a:ext cx="9144000" cy="104556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Program:</a:t>
            </a:r>
            <a:r>
              <a:rPr lang="en-US" dirty="0"/>
              <a:t> BSIT – 5th Semester (GCUF)</a:t>
            </a:r>
            <a:br>
              <a:rPr lang="en-US" dirty="0"/>
            </a:br>
            <a:r>
              <a:rPr lang="en-US" b="1" dirty="0"/>
              <a:t>Instructor:</a:t>
            </a:r>
            <a:r>
              <a:rPr lang="en-US" dirty="0"/>
              <a:t> </a:t>
            </a:r>
            <a:r>
              <a:rPr lang="en-US" i="1" dirty="0"/>
              <a:t>Sir Adnan Majeed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9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42AA-2AD0-BC4A-E965-6B00123C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Visual Programming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21990-ABAA-24A0-8778-8BA177DF4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1.1 What is Visual Programming?</a:t>
            </a:r>
          </a:p>
          <a:p>
            <a:r>
              <a:rPr lang="en-US" dirty="0"/>
              <a:t>Visual Programming is a method of programming where developers create programs by </a:t>
            </a:r>
            <a:r>
              <a:rPr lang="en-US" b="1" dirty="0"/>
              <a:t>manipulating graphical elements</a:t>
            </a:r>
            <a:r>
              <a:rPr lang="en-US" dirty="0"/>
              <a:t> instead of writing only code.</a:t>
            </a:r>
            <a:br>
              <a:rPr lang="en-US" dirty="0"/>
            </a:br>
            <a:r>
              <a:rPr lang="en-US" dirty="0"/>
              <a:t>Example: Designing forms by dragging &amp; dropping buttons, labels, textboxes in </a:t>
            </a:r>
            <a:r>
              <a:rPr lang="en-US" b="1" dirty="0"/>
              <a:t>Visual Studio</a:t>
            </a:r>
            <a:r>
              <a:rPr lang="en-US" dirty="0"/>
              <a:t>.</a:t>
            </a:r>
          </a:p>
          <a:p>
            <a:r>
              <a:rPr lang="en-US" b="1" dirty="0"/>
              <a:t>Characteristics</a:t>
            </a:r>
          </a:p>
          <a:p>
            <a:r>
              <a:rPr lang="en-US" dirty="0"/>
              <a:t>Drag-and-drop interface components</a:t>
            </a:r>
          </a:p>
          <a:p>
            <a:r>
              <a:rPr lang="en-US" dirty="0"/>
              <a:t>Automatic code generation</a:t>
            </a:r>
          </a:p>
          <a:p>
            <a:r>
              <a:rPr lang="en-US" dirty="0"/>
              <a:t>Visual event-handling</a:t>
            </a:r>
          </a:p>
          <a:p>
            <a:r>
              <a:rPr lang="en-US" dirty="0"/>
              <a:t>Fast UI development</a:t>
            </a:r>
          </a:p>
          <a:p>
            <a:r>
              <a:rPr lang="en-US" dirty="0"/>
              <a:t>Integrated debugging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067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CA9D-262F-1CD1-36B4-A04435A9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1.2 Why Visual Programming?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AEFE8-1D9F-6451-CF99-BED5FE1D9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development time</a:t>
            </a:r>
          </a:p>
          <a:p>
            <a:r>
              <a:rPr lang="en-US" dirty="0"/>
              <a:t>Easy for beginners (GUI instead of complex coding)</a:t>
            </a:r>
          </a:p>
          <a:p>
            <a:r>
              <a:rPr lang="en-US" dirty="0"/>
              <a:t>Helps create desktop applications efficiently</a:t>
            </a:r>
          </a:p>
          <a:p>
            <a:r>
              <a:rPr lang="en-US" dirty="0"/>
              <a:t>Highly suitable for </a:t>
            </a:r>
            <a:r>
              <a:rPr lang="en-US" b="1" dirty="0"/>
              <a:t>C#, VB.NET, WPF, WinForms</a:t>
            </a:r>
            <a:endParaRPr lang="en-US" dirty="0"/>
          </a:p>
          <a:p>
            <a:r>
              <a:rPr lang="en-US" dirty="0"/>
              <a:t>Supports </a:t>
            </a:r>
            <a:r>
              <a:rPr lang="en-US" b="1" dirty="0"/>
              <a:t>event-driven programming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106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7136-EEE7-39FD-1B79-735AAC91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1.3 Common Visual Programming Tools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8BA7-DBB8-71C1-C696-4A03AFEA1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Microsoft Visual Studio</a:t>
            </a:r>
            <a:r>
              <a:rPr lang="en-US" dirty="0"/>
              <a:t> (most widely used)</a:t>
            </a:r>
          </a:p>
          <a:p>
            <a:r>
              <a:rPr lang="en-US" dirty="0"/>
              <a:t>Delphi</a:t>
            </a:r>
          </a:p>
          <a:p>
            <a:r>
              <a:rPr lang="en-US" dirty="0"/>
              <a:t>Qt Creator</a:t>
            </a:r>
          </a:p>
          <a:p>
            <a:r>
              <a:rPr lang="en-US" dirty="0"/>
              <a:t>NetBeans GUI Builder</a:t>
            </a:r>
          </a:p>
          <a:p>
            <a:r>
              <a:rPr lang="en-US" dirty="0"/>
              <a:t>Xcode Interface Builder</a:t>
            </a:r>
          </a:p>
          <a:p>
            <a:r>
              <a:rPr lang="en-US" dirty="0"/>
              <a:t>In this course, we mainly use </a:t>
            </a:r>
            <a:r>
              <a:rPr lang="en-US" b="1" dirty="0"/>
              <a:t>Visual Studio</a:t>
            </a:r>
            <a:r>
              <a:rPr lang="en-US" dirty="0"/>
              <a:t> with </a:t>
            </a:r>
            <a:r>
              <a:rPr lang="en-US" b="1" dirty="0"/>
              <a:t>C# (WinForms)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25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18FC-BFA7-F87E-4EA7-45A19F2D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Visual Development Environment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55613-B222-D053-1E1F-46FEC7838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2.1 Visual Studio Components</a:t>
            </a:r>
          </a:p>
          <a:p>
            <a:r>
              <a:rPr lang="en-US" b="1" dirty="0"/>
              <a:t>Solution Explorer</a:t>
            </a:r>
            <a:r>
              <a:rPr lang="en-US" dirty="0"/>
              <a:t> – shows project files</a:t>
            </a:r>
          </a:p>
          <a:p>
            <a:r>
              <a:rPr lang="en-US" b="1" dirty="0"/>
              <a:t>Toolbox</a:t>
            </a:r>
            <a:r>
              <a:rPr lang="en-US" dirty="0"/>
              <a:t> – contains controls (Button, </a:t>
            </a:r>
            <a:r>
              <a:rPr lang="en-US" dirty="0" err="1"/>
              <a:t>TextBox</a:t>
            </a:r>
            <a:r>
              <a:rPr lang="en-US" dirty="0"/>
              <a:t>, Label)</a:t>
            </a:r>
          </a:p>
          <a:p>
            <a:r>
              <a:rPr lang="en-US" b="1" dirty="0"/>
              <a:t>Properties Window</a:t>
            </a:r>
            <a:r>
              <a:rPr lang="en-US" dirty="0"/>
              <a:t> – change size, color, text, name</a:t>
            </a:r>
          </a:p>
          <a:p>
            <a:r>
              <a:rPr lang="en-US" b="1" dirty="0"/>
              <a:t>Designer Window</a:t>
            </a:r>
            <a:r>
              <a:rPr lang="en-US" dirty="0"/>
              <a:t> – drag-and-drop UI designing</a:t>
            </a:r>
          </a:p>
          <a:p>
            <a:r>
              <a:rPr lang="en-US" b="1" dirty="0"/>
              <a:t>Code Editor</a:t>
            </a:r>
            <a:r>
              <a:rPr lang="en-US" dirty="0"/>
              <a:t> – write C#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38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98F8A-B604-0019-1173-33B96859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2.2 Controls (GUI Components)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81D5B-391A-59E3-7725-B9FE583F0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Common GUI controls used in Visual Programming:</a:t>
            </a:r>
          </a:p>
          <a:p>
            <a:r>
              <a:rPr lang="en-US" dirty="0"/>
              <a:t>Label</a:t>
            </a:r>
          </a:p>
          <a:p>
            <a:r>
              <a:rPr lang="en-US" dirty="0" err="1"/>
              <a:t>TextBox</a:t>
            </a:r>
            <a:endParaRPr lang="en-US" dirty="0"/>
          </a:p>
          <a:p>
            <a:r>
              <a:rPr lang="en-US" dirty="0"/>
              <a:t>Button</a:t>
            </a:r>
          </a:p>
          <a:p>
            <a:r>
              <a:rPr lang="en-US" dirty="0" err="1"/>
              <a:t>PictureBox</a:t>
            </a:r>
            <a:endParaRPr lang="en-US" dirty="0"/>
          </a:p>
          <a:p>
            <a:r>
              <a:rPr lang="en-US" dirty="0" err="1"/>
              <a:t>ComboBox</a:t>
            </a:r>
            <a:endParaRPr lang="en-US" dirty="0"/>
          </a:p>
          <a:p>
            <a:r>
              <a:rPr lang="en-US" dirty="0" err="1"/>
              <a:t>ListBox</a:t>
            </a:r>
            <a:endParaRPr lang="en-US" dirty="0"/>
          </a:p>
          <a:p>
            <a:r>
              <a:rPr lang="en-US" dirty="0" err="1"/>
              <a:t>RadioButton</a:t>
            </a:r>
            <a:endParaRPr lang="en-US" dirty="0"/>
          </a:p>
          <a:p>
            <a:r>
              <a:rPr lang="en-US" dirty="0" err="1"/>
              <a:t>CheckBox</a:t>
            </a:r>
            <a:endParaRPr lang="en-US" dirty="0"/>
          </a:p>
          <a:p>
            <a:r>
              <a:rPr lang="en-US" dirty="0"/>
              <a:t>Panel / </a:t>
            </a:r>
            <a:r>
              <a:rPr lang="en-US" dirty="0" err="1"/>
              <a:t>GroupBox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22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7B299-F03B-ACF6-5A8F-440C946FB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Introduction to Events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617DA-6F66-C11A-6097-F21E48618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3.1 What is an Event?</a:t>
            </a:r>
          </a:p>
          <a:p>
            <a:r>
              <a:rPr lang="en-US" dirty="0"/>
              <a:t>An </a:t>
            </a:r>
            <a:r>
              <a:rPr lang="en-US" b="1" dirty="0"/>
              <a:t>event</a:t>
            </a:r>
            <a:r>
              <a:rPr lang="en-US" dirty="0"/>
              <a:t> is an action that occurs during the execution of a program.</a:t>
            </a:r>
            <a:br>
              <a:rPr lang="en-US" dirty="0"/>
            </a:br>
            <a:r>
              <a:rPr lang="en-US" dirty="0"/>
              <a:t>Examples:</a:t>
            </a:r>
          </a:p>
          <a:p>
            <a:r>
              <a:rPr lang="en-US" dirty="0"/>
              <a:t>Clicking a button</a:t>
            </a:r>
          </a:p>
          <a:p>
            <a:r>
              <a:rPr lang="en-US" dirty="0"/>
              <a:t>Typing in a textbox</a:t>
            </a:r>
          </a:p>
          <a:p>
            <a:r>
              <a:rPr lang="en-US" dirty="0"/>
              <a:t>Moving the mouse</a:t>
            </a:r>
          </a:p>
          <a:p>
            <a:r>
              <a:rPr lang="en-US" dirty="0"/>
              <a:t>Closing a window</a:t>
            </a:r>
          </a:p>
          <a:p>
            <a:r>
              <a:rPr lang="en-US" dirty="0"/>
              <a:t>Events are used to make a program </a:t>
            </a:r>
            <a:r>
              <a:rPr lang="en-US" b="1" dirty="0"/>
              <a:t>interactive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56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A818-D444-B4E9-83F7-B1A63EC6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Common Events in Visual Programming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358D20-CA9F-C01B-9744-D75171CD2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378926"/>
              </p:ext>
            </p:extLst>
          </p:nvPr>
        </p:nvGraphicFramePr>
        <p:xfrm>
          <a:off x="838200" y="2484289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926596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443086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0292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523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Click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user clicks the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54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TextChanged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text is changed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969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Load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form 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19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PictureBox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MouseMove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mouse moves over 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089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RadioButton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CheckedChanged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When option is selected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506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62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2B52-9C47-CAC5-B0EC-4B0311E6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Event Handler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43E74-01C4-6EEF-6258-C47465D13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event handler</a:t>
            </a:r>
            <a:r>
              <a:rPr lang="en-US" dirty="0"/>
              <a:t> is a block of code that executes when an event occurs.</a:t>
            </a:r>
          </a:p>
          <a:p>
            <a:r>
              <a:rPr lang="en-US" b="1" dirty="0"/>
              <a:t>Example (Button Click Event):</a:t>
            </a:r>
          </a:p>
          <a:p>
            <a:r>
              <a:rPr lang="en-US" dirty="0"/>
              <a:t>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label1.Text = "Button Clicked!";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71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7250-7D0D-1DFA-4FF3-DF35DE2C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Fundamentals of Event-Driven Programming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34422-C17A-4E7D-B347-DE37E6708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4.1 What is Event-Driven Programming?</a:t>
            </a:r>
          </a:p>
          <a:p>
            <a:r>
              <a:rPr lang="en-US" dirty="0"/>
              <a:t>Event-Driven Programming is a programming paradigm in which </a:t>
            </a:r>
            <a:r>
              <a:rPr lang="en-US" b="1" dirty="0"/>
              <a:t>flow of the program is determined by user actions (events)</a:t>
            </a:r>
            <a:r>
              <a:rPr lang="en-US" dirty="0"/>
              <a:t>.</a:t>
            </a:r>
          </a:p>
          <a:p>
            <a:r>
              <a:rPr lang="en-US" b="1" dirty="0"/>
              <a:t>Key Idea:</a:t>
            </a:r>
          </a:p>
          <a:p>
            <a:r>
              <a:rPr lang="en-US" dirty="0"/>
              <a:t>The application waits until something happens → then responds.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404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373E-20DE-241D-0FF8-A63395AB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4.2 Main Components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D5EED-CF25-3420-1665-9F58ECBC4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Events</a:t>
            </a:r>
            <a:r>
              <a:rPr lang="en-US" dirty="0"/>
              <a:t> – user actions</a:t>
            </a:r>
          </a:p>
          <a:p>
            <a:r>
              <a:rPr lang="en-US" b="1" dirty="0"/>
              <a:t>Event Source</a:t>
            </a:r>
            <a:r>
              <a:rPr lang="en-US" dirty="0"/>
              <a:t> – the object that triggers the event (Button, </a:t>
            </a:r>
            <a:r>
              <a:rPr lang="en-US" dirty="0" err="1"/>
              <a:t>TextBox</a:t>
            </a:r>
            <a:r>
              <a:rPr lang="en-US" dirty="0"/>
              <a:t>)</a:t>
            </a:r>
          </a:p>
          <a:p>
            <a:r>
              <a:rPr lang="en-US" b="1" dirty="0"/>
              <a:t>Event Listener / Event Handler</a:t>
            </a:r>
            <a:r>
              <a:rPr lang="en-US" dirty="0"/>
              <a:t> – code method that handles the event</a:t>
            </a:r>
          </a:p>
          <a:p>
            <a:r>
              <a:rPr lang="en-US" b="1" dirty="0"/>
              <a:t>Event Loop</a:t>
            </a:r>
            <a:r>
              <a:rPr lang="en-US" dirty="0"/>
              <a:t> – continuously monitors events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2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031B-F206-8386-646A-F1F19A84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4.3 Working Mechanism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DF95B-D3B1-3F3F-8F99-B6DE4D03E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clicks button</a:t>
            </a:r>
          </a:p>
          <a:p>
            <a:r>
              <a:rPr lang="en-US" dirty="0"/>
              <a:t>Event is generated</a:t>
            </a:r>
          </a:p>
          <a:p>
            <a:r>
              <a:rPr lang="en-US" dirty="0"/>
              <a:t>Event handler is called</a:t>
            </a:r>
          </a:p>
          <a:p>
            <a:r>
              <a:rPr lang="en-US" dirty="0"/>
              <a:t>Program updates output/UI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448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3407-839A-6947-E8BE-80E4E68F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5B4D5-FFE8-A9BF-3501-E41B96BE9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4.4 Advantages of Event-Driven Programming</a:t>
            </a:r>
          </a:p>
          <a:p>
            <a:r>
              <a:rPr lang="en-US" dirty="0"/>
              <a:t>Highly interactive</a:t>
            </a:r>
          </a:p>
          <a:p>
            <a:r>
              <a:rPr lang="en-US" dirty="0"/>
              <a:t>Efficient for GUI applications</a:t>
            </a:r>
          </a:p>
          <a:p>
            <a:r>
              <a:rPr lang="en-US" dirty="0"/>
              <a:t>Easy to update individual components</a:t>
            </a:r>
          </a:p>
          <a:p>
            <a:r>
              <a:rPr lang="en-US" dirty="0"/>
              <a:t>Reusable event handlers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756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459B-3321-A841-6960-6170EDE14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4.5 Examples of Event-Driven Programs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F04AC-2570-0D0C-300C-AF8046D8A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Calculator</a:t>
            </a:r>
          </a:p>
          <a:p>
            <a:r>
              <a:rPr lang="en-US" dirty="0"/>
              <a:t>Login form</a:t>
            </a:r>
          </a:p>
          <a:p>
            <a:r>
              <a:rPr lang="en-US" dirty="0"/>
              <a:t>Attendance management system</a:t>
            </a:r>
          </a:p>
          <a:p>
            <a:r>
              <a:rPr lang="en-US" dirty="0"/>
              <a:t>School management dashboard</a:t>
            </a:r>
          </a:p>
          <a:p>
            <a:r>
              <a:rPr lang="en-US" dirty="0"/>
              <a:t>Restaurant POS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247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F45E-A286-3E91-00E4-5F8737E32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Practical Work (Using Visual Studio – C# WinForms)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EDD0D-60D7-1DBC-4993-52222808D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5.1 Practical 1: Create Your First Visual Program</a:t>
            </a:r>
          </a:p>
          <a:p>
            <a:r>
              <a:rPr lang="en-US" b="1" dirty="0"/>
              <a:t>Objective:</a:t>
            </a:r>
          </a:p>
          <a:p>
            <a:r>
              <a:rPr lang="en-US" dirty="0"/>
              <a:t>Create a form with a label, textbox, and button.</a:t>
            </a:r>
          </a:p>
          <a:p>
            <a:r>
              <a:rPr lang="en-US" b="1" dirty="0"/>
              <a:t>Steps:</a:t>
            </a:r>
          </a:p>
          <a:p>
            <a:r>
              <a:rPr lang="en-US" dirty="0"/>
              <a:t>Open Visual Studio → Create new project → </a:t>
            </a:r>
            <a:r>
              <a:rPr lang="en-US" i="1" dirty="0"/>
              <a:t>Windows Forms App (.NET Framework)</a:t>
            </a:r>
            <a:endParaRPr lang="en-US" dirty="0"/>
          </a:p>
          <a:p>
            <a:r>
              <a:rPr lang="en-US" dirty="0"/>
              <a:t>Drag a </a:t>
            </a:r>
            <a:r>
              <a:rPr lang="en-US" b="1" dirty="0"/>
              <a:t>Label</a:t>
            </a:r>
            <a:r>
              <a:rPr lang="en-US" dirty="0"/>
              <a:t>, </a:t>
            </a:r>
            <a:r>
              <a:rPr lang="en-US" b="1" dirty="0" err="1"/>
              <a:t>TextBox</a:t>
            </a:r>
            <a:r>
              <a:rPr lang="en-US" dirty="0"/>
              <a:t>, and </a:t>
            </a:r>
            <a:r>
              <a:rPr lang="en-US" b="1" dirty="0"/>
              <a:t>Button</a:t>
            </a:r>
            <a:r>
              <a:rPr lang="en-US" dirty="0"/>
              <a:t> onto the form</a:t>
            </a:r>
          </a:p>
          <a:p>
            <a:r>
              <a:rPr lang="en-US" dirty="0"/>
              <a:t>Change properties:</a:t>
            </a:r>
          </a:p>
          <a:p>
            <a:pPr lvl="1"/>
            <a:r>
              <a:rPr lang="en-US" dirty="0"/>
              <a:t>Label → Text: “Enter Name:”</a:t>
            </a:r>
          </a:p>
          <a:p>
            <a:pPr lvl="1"/>
            <a:r>
              <a:rPr lang="en-US" dirty="0"/>
              <a:t>Button → Text: “Show Message”</a:t>
            </a:r>
          </a:p>
          <a:p>
            <a:r>
              <a:rPr lang="en-US" dirty="0"/>
              <a:t>Double-click the Button → Add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312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4C3F-2D3E-E527-17C5-7016D37B0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D9B52-B906-24DA-F266-2C1C85C98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string name = textBox1.Text;</a:t>
            </a:r>
          </a:p>
          <a:p>
            <a:r>
              <a:rPr lang="en-US" dirty="0"/>
              <a:t>    </a:t>
            </a:r>
            <a:r>
              <a:rPr lang="en-US" dirty="0" err="1"/>
              <a:t>MessageBox.Show</a:t>
            </a:r>
            <a:r>
              <a:rPr lang="en-US" dirty="0"/>
              <a:t>("Welcome " + name);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846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4EB8-406E-9E26-A7D2-96BF6AAB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5.2 Practical 2: Text Change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3F9C8-1485-0FA1-033D-0041A17BE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private void textBox1_TextChanged(object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label2.Text = "You typed: " + textBox1.Text;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762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8E3AC-D005-5CBD-B08F-AA46E08A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5.3 Practical 3: Form Load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C7F2E-93D4-0536-F9E7-1D11F3CA5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private void Form1_Load(object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MessageBox.Show</a:t>
            </a:r>
            <a:r>
              <a:rPr lang="en-US" dirty="0"/>
              <a:t>("Application Started!");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333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4C06-049E-83A1-355A-1FC4E38C5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B53BD-D9A0-1E53-8ED2-F0CDF67E6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6. Summary</a:t>
            </a:r>
          </a:p>
          <a:p>
            <a:r>
              <a:rPr lang="en-US" b="1" dirty="0"/>
              <a:t>You learned:</a:t>
            </a:r>
          </a:p>
          <a:p>
            <a:r>
              <a:rPr lang="en-US" dirty="0"/>
              <a:t>Basics of Visual Programming</a:t>
            </a:r>
          </a:p>
          <a:p>
            <a:r>
              <a:rPr lang="en-US" dirty="0"/>
              <a:t>Visual Studio components</a:t>
            </a:r>
          </a:p>
          <a:p>
            <a:r>
              <a:rPr lang="en-US" dirty="0"/>
              <a:t>GUI controls</a:t>
            </a:r>
          </a:p>
          <a:p>
            <a:r>
              <a:rPr lang="en-US" dirty="0"/>
              <a:t>What events are</a:t>
            </a:r>
          </a:p>
          <a:p>
            <a:r>
              <a:rPr lang="en-US" dirty="0"/>
              <a:t>Event handlers</a:t>
            </a:r>
          </a:p>
          <a:p>
            <a:r>
              <a:rPr lang="en-US" dirty="0"/>
              <a:t>Event-driven programming concepts</a:t>
            </a:r>
          </a:p>
          <a:p>
            <a:r>
              <a:rPr lang="en-US" dirty="0"/>
              <a:t>Practical examples in C# WinForms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91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753</Words>
  <Application>Microsoft Office PowerPoint</Application>
  <PresentationFormat>Widescreen</PresentationFormat>
  <Paragraphs>137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Office Theme</vt:lpstr>
      <vt:lpstr>Lecture 1–3: Basics of Visual Programming, Introduction to Events, and Fundamentals of Event-Driven Programming Course: Visual Programming </vt:lpstr>
      <vt:lpstr>Introduction to Visual Programming </vt:lpstr>
      <vt:lpstr>1.2 Why Visual Programming? </vt:lpstr>
      <vt:lpstr>1.3 Common Visual Programming Tools </vt:lpstr>
      <vt:lpstr>2. Visual Development Environment </vt:lpstr>
      <vt:lpstr>2.2 Controls (GUI Components) </vt:lpstr>
      <vt:lpstr>3. Introduction to Events </vt:lpstr>
      <vt:lpstr>3.2 Common Events in Visual Programming</vt:lpstr>
      <vt:lpstr>3.3 Event Handler</vt:lpstr>
      <vt:lpstr>4. Fundamentals of Event-Driven Programming </vt:lpstr>
      <vt:lpstr>4.2 Main Components </vt:lpstr>
      <vt:lpstr>4.3 Working Mechanism </vt:lpstr>
      <vt:lpstr>PowerPoint Presentation</vt:lpstr>
      <vt:lpstr>4.5 Examples of Event-Driven Programs </vt:lpstr>
      <vt:lpstr>5. Practical Work (Using Visual Studio – C# WinForms)</vt:lpstr>
      <vt:lpstr>PowerPoint Presentation</vt:lpstr>
      <vt:lpstr>5.2 Practical 2: Text Change Event</vt:lpstr>
      <vt:lpstr>5.3 Practical 3: Form Load Event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27</cp:revision>
  <dcterms:created xsi:type="dcterms:W3CDTF">2025-11-21T07:01:12Z</dcterms:created>
  <dcterms:modified xsi:type="dcterms:W3CDTF">2025-11-21T07:07:41Z</dcterms:modified>
</cp:coreProperties>
</file>